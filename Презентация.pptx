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60" r:id="rId5"/>
    <p:sldId id="261" r:id="rId6"/>
    <p:sldId id="263" r:id="rId7"/>
    <p:sldId id="262" r:id="rId8"/>
    <p:sldId id="264" r:id="rId9"/>
    <p:sldId id="266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WxDgTblmfeAuG++Inr3z8MUGI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059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804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91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675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667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354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938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95574" y="-32750"/>
            <a:ext cx="9748899" cy="54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l="20281" t="20076" r="20030" b="20942"/>
          <a:stretch/>
        </p:blipFill>
        <p:spPr>
          <a:xfrm>
            <a:off x="276971" y="425217"/>
            <a:ext cx="1683725" cy="927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0443" y="425222"/>
            <a:ext cx="919523" cy="37709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276971" y="1934508"/>
            <a:ext cx="4864075" cy="138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rgbClr val="0070C0"/>
                </a:solidFill>
                <a:highlight>
                  <a:srgbClr val="FFFFFF"/>
                </a:highlight>
              </a:rPr>
              <a:t>ML-</a:t>
            </a:r>
            <a:r>
              <a:rPr lang="ru-RU" sz="2600" b="1" dirty="0">
                <a:solidFill>
                  <a:srgbClr val="0070C0"/>
                </a:solidFill>
                <a:highlight>
                  <a:srgbClr val="FFFFFF"/>
                </a:highlight>
              </a:rPr>
              <a:t>процесс от мониторинга до </a:t>
            </a:r>
            <a:r>
              <a:rPr lang="en-US" sz="2600" b="1" dirty="0">
                <a:solidFill>
                  <a:srgbClr val="0070C0"/>
                </a:solidFill>
                <a:highlight>
                  <a:srgbClr val="FFFFFF"/>
                </a:highlight>
              </a:rPr>
              <a:t>AB-</a:t>
            </a:r>
            <a:r>
              <a:rPr lang="ru-RU" sz="2600" b="1" dirty="0">
                <a:solidFill>
                  <a:srgbClr val="0070C0"/>
                </a:solidFill>
                <a:highlight>
                  <a:srgbClr val="FFFFFF"/>
                </a:highlight>
              </a:rPr>
              <a:t>теста</a:t>
            </a:r>
            <a:endParaRPr sz="2600" b="1" i="0" u="none" strike="noStrike" cap="none" dirty="0">
              <a:solidFill>
                <a:srgbClr val="0070C0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311700" y="39011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dirty="0">
                <a:solidFill>
                  <a:schemeClr val="dk1"/>
                </a:solidFill>
              </a:rPr>
              <a:t>Спикер</a:t>
            </a:r>
            <a:r>
              <a:rPr lang="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Солодникова Со</a:t>
            </a:r>
            <a:r>
              <a:rPr lang="ru-RU" sz="2000" b="1" dirty="0">
                <a:solidFill>
                  <a:schemeClr val="dk1"/>
                </a:solidFill>
              </a:rPr>
              <a:t>фия </a:t>
            </a:r>
            <a:r>
              <a:rPr lang="ru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RIM-240903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Цель проекта 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Цель проекта — построить воспроизводимый и управляемый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MLOps-пайплайн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, включающий:</a:t>
            </a:r>
          </a:p>
          <a:p>
            <a:pPr algn="l"/>
            <a:endParaRPr lang="ru-RU" b="0" i="0" dirty="0">
              <a:solidFill>
                <a:srgbClr val="1F2328"/>
              </a:solidFill>
              <a:effectLst/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контроль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data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drift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между обучающими и текущими данными;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условное переобучение модели при обнаружении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drift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автоматизированное обучение с использованием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AutoML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логирование экспериментов и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версионирование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моделей;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A/B-тестирование моделей в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production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-среде;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 автоматическое принятие решения о переводе модели в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+mn-lt"/>
              </a:rPr>
              <a:t>production</a:t>
            </a:r>
            <a:r>
              <a:rPr lang="ru-RU" b="0" i="0" dirty="0">
                <a:solidFill>
                  <a:srgbClr val="1F2328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6CE044E-1DB6-4902-B6BF-E007441A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902" y="1513225"/>
            <a:ext cx="2388049" cy="68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94423D29-B475-4D25-991F-BD0061BD3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2465764"/>
            <a:ext cx="2138363" cy="78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F22050AE-5A44-4F4C-8896-F04DDE0D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005" y="3465940"/>
            <a:ext cx="2281527" cy="63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99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MLOps</a:t>
            </a:r>
            <a:r>
              <a:rPr lang="en-US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pipeline </a:t>
            </a: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для классификации 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D9DA2-6501-40B5-929F-439443E36504}"/>
              </a:ext>
            </a:extLst>
          </p:cNvPr>
          <p:cNvSpPr txBox="1"/>
          <p:nvPr/>
        </p:nvSpPr>
        <p:spPr>
          <a:xfrm>
            <a:off x="602089" y="151322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 данном проекте использовался </a:t>
            </a:r>
            <a:r>
              <a:rPr lang="ru-RU" dirty="0" err="1">
                <a:solidFill>
                  <a:schemeClr val="tx1"/>
                </a:solidFill>
                <a:latin typeface="+mn-lt"/>
              </a:rPr>
              <a:t>датасет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в котором решается задача бинарной классификации –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«Titanic».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9B945EF-7A2A-4608-B44D-123FB281AE92}"/>
              </a:ext>
            </a:extLst>
          </p:cNvPr>
          <p:cNvSpPr/>
          <p:nvPr/>
        </p:nvSpPr>
        <p:spPr>
          <a:xfrm>
            <a:off x="602089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DB3E3E2-A7A3-4B46-B138-E7D4FE4C5582}"/>
              </a:ext>
            </a:extLst>
          </p:cNvPr>
          <p:cNvSpPr/>
          <p:nvPr/>
        </p:nvSpPr>
        <p:spPr>
          <a:xfrm>
            <a:off x="1959401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Drift check</a:t>
            </a:r>
            <a:endParaRPr lang="ru-RU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247E86C2-7524-4501-9009-0129E54C49CA}"/>
              </a:ext>
            </a:extLst>
          </p:cNvPr>
          <p:cNvSpPr/>
          <p:nvPr/>
        </p:nvSpPr>
        <p:spPr>
          <a:xfrm>
            <a:off x="3316713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Retrain</a:t>
            </a:r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86D8E67D-178B-4CED-8289-97F7FB58A1A3}"/>
              </a:ext>
            </a:extLst>
          </p:cNvPr>
          <p:cNvSpPr/>
          <p:nvPr/>
        </p:nvSpPr>
        <p:spPr>
          <a:xfrm>
            <a:off x="4674025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Mlflow</a:t>
            </a:r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25D5B26-61B7-439A-8B9E-642767370C45}"/>
              </a:ext>
            </a:extLst>
          </p:cNvPr>
          <p:cNvSpPr/>
          <p:nvPr/>
        </p:nvSpPr>
        <p:spPr>
          <a:xfrm>
            <a:off x="6031337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A/B</a:t>
            </a:r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1CE52957-83DB-44C5-A0A9-5ED5767F1183}"/>
              </a:ext>
            </a:extLst>
          </p:cNvPr>
          <p:cNvSpPr/>
          <p:nvPr/>
        </p:nvSpPr>
        <p:spPr>
          <a:xfrm>
            <a:off x="7388649" y="2571750"/>
            <a:ext cx="1098124" cy="6818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Production</a:t>
            </a:r>
            <a:endParaRPr lang="ru-RU" dirty="0"/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1AF18596-FCFA-452A-9AE0-867808C1B894}"/>
              </a:ext>
            </a:extLst>
          </p:cNvPr>
          <p:cNvSpPr/>
          <p:nvPr/>
        </p:nvSpPr>
        <p:spPr>
          <a:xfrm>
            <a:off x="1733964" y="2801558"/>
            <a:ext cx="180562" cy="20358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FC0CF85C-F6F2-49FB-B024-395D7D6BA195}"/>
              </a:ext>
            </a:extLst>
          </p:cNvPr>
          <p:cNvSpPr/>
          <p:nvPr/>
        </p:nvSpPr>
        <p:spPr>
          <a:xfrm>
            <a:off x="3089918" y="2799781"/>
            <a:ext cx="180562" cy="20358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трелка: вправо 26">
            <a:extLst>
              <a:ext uri="{FF2B5EF4-FFF2-40B4-BE49-F238E27FC236}">
                <a16:creationId xmlns:a16="http://schemas.microsoft.com/office/drawing/2014/main" id="{39498F66-4C2D-417A-A85A-AE60E8713A4A}"/>
              </a:ext>
            </a:extLst>
          </p:cNvPr>
          <p:cNvSpPr/>
          <p:nvPr/>
        </p:nvSpPr>
        <p:spPr>
          <a:xfrm>
            <a:off x="4448973" y="2799781"/>
            <a:ext cx="180562" cy="20358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право 27">
            <a:extLst>
              <a:ext uri="{FF2B5EF4-FFF2-40B4-BE49-F238E27FC236}">
                <a16:creationId xmlns:a16="http://schemas.microsoft.com/office/drawing/2014/main" id="{862F3AB1-3F1E-46D9-8A01-B7DA918594D1}"/>
              </a:ext>
            </a:extLst>
          </p:cNvPr>
          <p:cNvSpPr/>
          <p:nvPr/>
        </p:nvSpPr>
        <p:spPr>
          <a:xfrm>
            <a:off x="5816815" y="2810884"/>
            <a:ext cx="180562" cy="20358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: вправо 28">
            <a:extLst>
              <a:ext uri="{FF2B5EF4-FFF2-40B4-BE49-F238E27FC236}">
                <a16:creationId xmlns:a16="http://schemas.microsoft.com/office/drawing/2014/main" id="{0045C4D6-1B9C-494C-BB88-D8A171F44523}"/>
              </a:ext>
            </a:extLst>
          </p:cNvPr>
          <p:cNvSpPr/>
          <p:nvPr/>
        </p:nvSpPr>
        <p:spPr>
          <a:xfrm>
            <a:off x="7179128" y="2799781"/>
            <a:ext cx="180562" cy="20358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69759-00AD-4E5F-9EA1-F6A4A01CEDA4}"/>
              </a:ext>
            </a:extLst>
          </p:cNvPr>
          <p:cNvSpPr txBox="1"/>
          <p:nvPr/>
        </p:nvSpPr>
        <p:spPr>
          <a:xfrm>
            <a:off x="3057525" y="333643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Рисунок 1 – Схематичный </a:t>
            </a:r>
            <a:r>
              <a:rPr lang="ru-RU" sz="1200" dirty="0" err="1">
                <a:solidFill>
                  <a:schemeClr val="tx1"/>
                </a:solidFill>
                <a:latin typeface="+mn-lt"/>
              </a:rPr>
              <a:t>пайплайн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</a:t>
            </a:r>
            <a:endParaRPr lang="ru-RU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Контроль </a:t>
            </a:r>
            <a:r>
              <a:rPr lang="en-US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Data Dri</a:t>
            </a:r>
            <a:r>
              <a:rPr lang="en-US" sz="2600" b="1" dirty="0">
                <a:solidFill>
                  <a:srgbClr val="0070C0"/>
                </a:solidFill>
              </a:rPr>
              <a:t>ft (Airflow) </a:t>
            </a: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сравнение </a:t>
            </a:r>
            <a:r>
              <a:rPr lang="en-US" dirty="0"/>
              <a:t>train </a:t>
            </a:r>
            <a:r>
              <a:rPr lang="ru-RU" dirty="0"/>
              <a:t>и </a:t>
            </a:r>
            <a:r>
              <a:rPr lang="en-US" dirty="0"/>
              <a:t>current </a:t>
            </a:r>
            <a:r>
              <a:rPr lang="ru-RU" dirty="0"/>
              <a:t>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метрика: </a:t>
            </a:r>
            <a:r>
              <a:rPr lang="en-US" dirty="0"/>
              <a:t>PSI (Population Stability Index)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признаки: </a:t>
            </a:r>
            <a:r>
              <a:rPr lang="en-US" dirty="0"/>
              <a:t>Age, Fare, </a:t>
            </a:r>
            <a:r>
              <a:rPr lang="en-US" dirty="0" err="1"/>
              <a:t>Pclass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retraining </a:t>
            </a:r>
            <a:r>
              <a:rPr lang="ru-RU" dirty="0"/>
              <a:t>запускается только при превышении порога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0329B9-949B-48DF-ACBF-628517359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70" y="2898220"/>
            <a:ext cx="7238017" cy="178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0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1" dirty="0">
                <a:solidFill>
                  <a:srgbClr val="0070C0"/>
                </a:solidFill>
              </a:rPr>
              <a:t>Переобучение модели</a:t>
            </a:r>
            <a:r>
              <a:rPr lang="en-US" sz="2600" b="1" dirty="0">
                <a:solidFill>
                  <a:srgbClr val="0070C0"/>
                </a:solidFill>
              </a:rPr>
              <a:t> </a:t>
            </a: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Event-driven retraining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если </a:t>
            </a:r>
            <a:r>
              <a:rPr lang="en-US" dirty="0"/>
              <a:t>drift &gt; threshold → retrain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если </a:t>
            </a:r>
            <a:r>
              <a:rPr lang="en-US" dirty="0"/>
              <a:t>drift ≤ threshold → retrain </a:t>
            </a:r>
            <a:r>
              <a:rPr lang="ru-RU" dirty="0"/>
              <a:t>пропускается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Обучение: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 err="1"/>
              <a:t>AutoML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en-US" dirty="0" err="1"/>
              <a:t>PyCaret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кросс-валидация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логирование экспериментов в </a:t>
            </a:r>
            <a:r>
              <a:rPr lang="en-US" dirty="0" err="1"/>
              <a:t>MLflow</a:t>
            </a:r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690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1720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600"/>
            </a:pPr>
            <a:r>
              <a:rPr lang="en-US" sz="2600" b="1" dirty="0" err="1">
                <a:solidFill>
                  <a:srgbClr val="0070C0"/>
                </a:solidFill>
              </a:rPr>
              <a:t>drift_retrain_dag</a:t>
            </a:r>
            <a:endParaRPr lang="en-US" sz="3600" b="1" i="0" u="none" strike="noStrike" dirty="0">
              <a:solidFill>
                <a:srgbClr val="51504F"/>
              </a:solidFill>
              <a:effectLst/>
              <a:latin typeface="-apple-system"/>
            </a:endParaRPr>
          </a:p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rgbClr val="0070C0"/>
                </a:solidFill>
              </a:rPr>
              <a:t> </a:t>
            </a: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524A37-FE64-49F7-B14D-B28D7B3FD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111" y="2090528"/>
            <a:ext cx="4563522" cy="154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3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Mlflow</a:t>
            </a:r>
            <a:r>
              <a:rPr lang="en-US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2600" b="1" dirty="0">
                <a:solidFill>
                  <a:srgbClr val="0070C0"/>
                </a:solidFill>
              </a:rPr>
              <a:t>эксперименты и </a:t>
            </a:r>
            <a:r>
              <a:rPr lang="en-US" sz="2600" b="1" dirty="0">
                <a:solidFill>
                  <a:srgbClr val="0070C0"/>
                </a:solidFill>
              </a:rPr>
              <a:t>registry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MLflow</a:t>
            </a:r>
            <a:r>
              <a:rPr lang="ru-RU" dirty="0"/>
              <a:t> используется для: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хранения экспериментов и метрик,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 err="1"/>
              <a:t>версионирования</a:t>
            </a:r>
            <a:r>
              <a:rPr lang="ru-RU" dirty="0"/>
              <a:t> моделей,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управления стадиями (</a:t>
            </a:r>
            <a:r>
              <a:rPr lang="ru-RU" dirty="0" err="1"/>
              <a:t>Staging</a:t>
            </a:r>
            <a:r>
              <a:rPr lang="ru-RU" dirty="0"/>
              <a:t> / Production).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ru-RU" dirty="0"/>
              <a:t>Новая модель переводится в </a:t>
            </a:r>
            <a:r>
              <a:rPr lang="en-US" dirty="0"/>
              <a:t>Staging</a:t>
            </a:r>
            <a:endParaRPr lang="ru-RU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3DFF8F-E9E6-41F6-96E9-CFCFA6007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976" y="1517987"/>
            <a:ext cx="3991107" cy="16705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9057AA-9C10-4628-8972-7438A2E5A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976" y="3295047"/>
            <a:ext cx="3991107" cy="16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8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1" dirty="0">
                <a:solidFill>
                  <a:srgbClr val="0070C0"/>
                </a:solidFill>
              </a:rPr>
              <a:t>Логирование и оценка </a:t>
            </a:r>
            <a:r>
              <a:rPr lang="en-US" sz="2600" b="1" dirty="0">
                <a:solidFill>
                  <a:srgbClr val="0070C0"/>
                </a:solidFill>
              </a:rPr>
              <a:t>A/B </a:t>
            </a:r>
            <a:r>
              <a:rPr lang="ru-RU" sz="2600" b="1" dirty="0">
                <a:solidFill>
                  <a:srgbClr val="0070C0"/>
                </a:solidFill>
              </a:rPr>
              <a:t>тестирования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Оценка A/B-теста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логирование всех запросов (CSV)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метрики: </a:t>
            </a:r>
            <a:r>
              <a:rPr lang="ru-RU" dirty="0" err="1"/>
              <a:t>accuracy</a:t>
            </a:r>
            <a:r>
              <a:rPr lang="ru-RU" dirty="0"/>
              <a:t>, </a:t>
            </a:r>
            <a:r>
              <a:rPr lang="ru-RU" dirty="0" err="1"/>
              <a:t>precision</a:t>
            </a:r>
            <a:r>
              <a:rPr lang="ru-RU" dirty="0"/>
              <a:t>, </a:t>
            </a:r>
            <a:r>
              <a:rPr lang="ru-RU" dirty="0" err="1"/>
              <a:t>recall</a:t>
            </a:r>
            <a:r>
              <a:rPr lang="ru-RU" dirty="0"/>
              <a:t>, F1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проверка статистической значимости (</a:t>
            </a:r>
            <a:r>
              <a:rPr lang="ru-RU" dirty="0" err="1"/>
              <a:t>chi-square</a:t>
            </a:r>
            <a:r>
              <a:rPr lang="ru-RU" dirty="0"/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E437BA-CDF7-4988-9F99-CDC9C143D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79" y="2571750"/>
            <a:ext cx="2001571" cy="23740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97D899-6F34-4B57-823D-14BAFD744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313" y="2588802"/>
            <a:ext cx="4090988" cy="207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2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096" y="133323"/>
            <a:ext cx="647242" cy="324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7473" y="210127"/>
            <a:ext cx="834439" cy="2477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602089" y="495316"/>
            <a:ext cx="7939800" cy="16200"/>
          </a:xfrm>
          <a:prstGeom prst="snip1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9</a:t>
            </a:fld>
            <a:endParaRPr/>
          </a:p>
        </p:txBody>
      </p:sp>
      <p:sp>
        <p:nvSpPr>
          <p:cNvPr id="7" name="Google Shape;77;p3">
            <a:extLst>
              <a:ext uri="{FF2B5EF4-FFF2-40B4-BE49-F238E27FC236}">
                <a16:creationId xmlns:a16="http://schemas.microsoft.com/office/drawing/2014/main" id="{BE3FA864-D700-4DC6-935B-1507739DADB7}"/>
              </a:ext>
            </a:extLst>
          </p:cNvPr>
          <p:cNvSpPr txBox="1"/>
          <p:nvPr/>
        </p:nvSpPr>
        <p:spPr>
          <a:xfrm>
            <a:off x="602100" y="7160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Ито</a:t>
            </a:r>
            <a:r>
              <a:rPr lang="ru-RU" sz="2600" b="1" dirty="0">
                <a:solidFill>
                  <a:srgbClr val="0070C0"/>
                </a:solidFill>
              </a:rPr>
              <a:t>ги</a:t>
            </a: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7DCB83-7B3A-4A33-B371-C3032E70E212}"/>
              </a:ext>
            </a:extLst>
          </p:cNvPr>
          <p:cNvSpPr txBox="1"/>
          <p:nvPr/>
        </p:nvSpPr>
        <p:spPr>
          <a:xfrm>
            <a:off x="602089" y="15132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dirty="0"/>
          </a:p>
        </p:txBody>
      </p:sp>
      <p:sp>
        <p:nvSpPr>
          <p:cNvPr id="10" name="Google Shape;77;p3">
            <a:extLst>
              <a:ext uri="{FF2B5EF4-FFF2-40B4-BE49-F238E27FC236}">
                <a16:creationId xmlns:a16="http://schemas.microsoft.com/office/drawing/2014/main" id="{7EF797D7-39EB-4D25-AC0D-CD208F88E94B}"/>
              </a:ext>
            </a:extLst>
          </p:cNvPr>
          <p:cNvSpPr txBox="1"/>
          <p:nvPr/>
        </p:nvSpPr>
        <p:spPr>
          <a:xfrm>
            <a:off x="754500" y="868425"/>
            <a:ext cx="7939800" cy="9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E1EF8E-B357-4438-85DC-0269AF53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89" y="1668563"/>
            <a:ext cx="433323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реализован полный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MLOps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-цикл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retraining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 событию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безопасный выкат новой модели через A/B-тест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автоматическое управление версиями 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u-RU" altLang="ru-RU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dirty="0">
                <a:solidFill>
                  <a:schemeClr val="tx1"/>
                </a:solidFill>
                <a:latin typeface="Arial" panose="020B0604020202020204" pitchFamily="34" charset="0"/>
              </a:rPr>
              <a:t>Были применены технологии:</a:t>
            </a:r>
            <a:br>
              <a:rPr lang="ru-RU" dirty="0"/>
            </a:br>
            <a:r>
              <a:rPr lang="en-US" dirty="0"/>
              <a:t>Airflow · </a:t>
            </a:r>
            <a:r>
              <a:rPr lang="en-US" dirty="0" err="1"/>
              <a:t>MLflow</a:t>
            </a:r>
            <a:r>
              <a:rPr lang="en-US" dirty="0"/>
              <a:t> · </a:t>
            </a:r>
            <a:r>
              <a:rPr lang="en-US" dirty="0" err="1"/>
              <a:t>PyCaret</a:t>
            </a:r>
            <a:r>
              <a:rPr lang="en-US" dirty="0"/>
              <a:t> · Flask · Docker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033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295</Words>
  <Application>Microsoft Office PowerPoint</Application>
  <PresentationFormat>Экран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Ivan Pavlov</dc:creator>
  <cp:lastModifiedBy>ipavlovkz@yandex.ru</cp:lastModifiedBy>
  <cp:revision>10</cp:revision>
  <dcterms:modified xsi:type="dcterms:W3CDTF">2026-01-15T22:47:09Z</dcterms:modified>
</cp:coreProperties>
</file>